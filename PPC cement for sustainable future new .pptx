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60" r:id="rId13"/>
    <p:sldId id="261" r:id="rId14"/>
    <p:sldId id="262" r:id="rId15"/>
    <p:sldId id="26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>
      <p:cViewPr>
        <p:scale>
          <a:sx n="89" d="100"/>
          <a:sy n="89" d="100"/>
        </p:scale>
        <p:origin x="-643" y="-1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03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20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91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39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45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22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01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954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59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53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5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1C8F2-B577-403D-89BA-CB3FAB86D9A0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4F15E-B7C0-483C-AA23-AA3B3D1CC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32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PPC cement for sustainable future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Arvindh</a:t>
            </a:r>
          </a:p>
          <a:p>
            <a:pPr algn="just"/>
            <a:r>
              <a:rPr lang="en-IN" dirty="0" smtClean="0"/>
              <a:t>                        SRM IST Ramapuram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025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584176"/>
          </a:xfrm>
        </p:spPr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03648" y="5085184"/>
            <a:ext cx="6400800" cy="1129680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 smtClean="0"/>
              <a:t>New type of ppc cement</a:t>
            </a:r>
          </a:p>
          <a:p>
            <a:pPr algn="l"/>
            <a:r>
              <a:rPr lang="en-IN" dirty="0" smtClean="0"/>
              <a:t>Change in raw </a:t>
            </a:r>
            <a:r>
              <a:rPr lang="en-IN" dirty="0" err="1" smtClean="0"/>
              <a:t>materials,machienary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484784"/>
            <a:ext cx="4320480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4757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Raw materials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Clinker (70%) → Limestone (52%), Clay (10%), Iron Ore (2%)</a:t>
            </a:r>
          </a:p>
          <a:p>
            <a:r>
              <a:rPr lang="en-IN" dirty="0" err="1" smtClean="0"/>
              <a:t>Pozzolanic</a:t>
            </a:r>
            <a:r>
              <a:rPr lang="en-IN" dirty="0" smtClean="0"/>
              <a:t> Materials (30%) → </a:t>
            </a:r>
          </a:p>
          <a:p>
            <a:r>
              <a:rPr lang="en-IN" dirty="0" smtClean="0"/>
              <a:t>Fly Ash (12%), Rice Husk Ash (6%), Sewage Sludge Ash (4%), Glass Waste (5%), Construction Waste (3%)</a:t>
            </a:r>
          </a:p>
          <a:p>
            <a:r>
              <a:rPr lang="en-IN" dirty="0" smtClean="0"/>
              <a:t>Nano Titanium (0.2%) → Strength enhancer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58" y="5445223"/>
            <a:ext cx="8424936" cy="10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940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Fuels in kiln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Coal (50%) – Reduced reliance</a:t>
            </a:r>
          </a:p>
          <a:p>
            <a:r>
              <a:rPr lang="en-US" dirty="0" smtClean="0"/>
              <a:t>Plastic Waste (20%) – Utilization of non-recyclable plastic waste</a:t>
            </a:r>
          </a:p>
          <a:p>
            <a:r>
              <a:rPr lang="en-US" dirty="0" err="1" smtClean="0"/>
              <a:t>Tyre</a:t>
            </a:r>
            <a:r>
              <a:rPr lang="en-US" dirty="0" smtClean="0"/>
              <a:t> Waste (15%) – High calorific value</a:t>
            </a:r>
          </a:p>
          <a:p>
            <a:r>
              <a:rPr lang="en-US" dirty="0" smtClean="0"/>
              <a:t>Biomass (15%) – Renewable source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509120"/>
            <a:ext cx="6408712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0646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 OF AI,IOT IN INDUSTRY MANAGEMENT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RAW MATERIAL SOURCING:</a:t>
            </a:r>
          </a:p>
          <a:p>
            <a:pPr marL="0" indent="0">
              <a:buNone/>
            </a:pPr>
            <a:r>
              <a:rPr lang="en-US" dirty="0" err="1"/>
              <a:t>IoT</a:t>
            </a:r>
            <a:endParaRPr lang="en-US" dirty="0"/>
          </a:p>
          <a:p>
            <a:r>
              <a:rPr lang="en-US" dirty="0"/>
              <a:t>GPS-enabled smart trucks, conveyors, and loaders give live data on limestone </a:t>
            </a:r>
            <a:r>
              <a:rPr lang="en-US" dirty="0" err="1"/>
              <a:t>extraction.Sensors</a:t>
            </a:r>
            <a:r>
              <a:rPr lang="en-US" dirty="0"/>
              <a:t> in the mine measure blast efficiency, haul road condition, moisture in limestone.</a:t>
            </a:r>
          </a:p>
          <a:p>
            <a:pPr marL="0" indent="0">
              <a:buNone/>
            </a:pPr>
            <a:r>
              <a:rPr lang="en-US" dirty="0"/>
              <a:t>AI</a:t>
            </a:r>
          </a:p>
          <a:p>
            <a:r>
              <a:rPr lang="en-US" dirty="0"/>
              <a:t>Predicts the best blasting pattern to reduce oversize boulders.</a:t>
            </a:r>
          </a:p>
          <a:p>
            <a:r>
              <a:rPr lang="en-US" dirty="0"/>
              <a:t>Real-time inventory prediction of limestone, slag, glass waste, </a:t>
            </a:r>
            <a:r>
              <a:rPr lang="en-US" dirty="0" err="1"/>
              <a:t>gypsum.Optimizes</a:t>
            </a:r>
            <a:r>
              <a:rPr lang="en-US" dirty="0"/>
              <a:t> truck routes and reduces fuel by 10 percent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Result </a:t>
            </a:r>
          </a:p>
          <a:p>
            <a:pPr marL="0" indent="0">
              <a:buNone/>
            </a:pPr>
            <a:r>
              <a:rPr lang="en-US" dirty="0" smtClean="0"/>
              <a:t>Continuous </a:t>
            </a:r>
            <a:r>
              <a:rPr lang="en-US" dirty="0"/>
              <a:t>material flow, lower cost/ton, and stable raw meal quality.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060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Raw Meal &amp; Additive Proportion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PPC </a:t>
            </a:r>
            <a:r>
              <a:rPr lang="en-IN" dirty="0" smtClean="0"/>
              <a:t>needs Clinker </a:t>
            </a:r>
            <a:r>
              <a:rPr lang="en-IN" dirty="0"/>
              <a:t>(70–80%)Fly ash or </a:t>
            </a:r>
            <a:r>
              <a:rPr lang="en-IN" dirty="0" err="1"/>
              <a:t>pozzolanic</a:t>
            </a:r>
            <a:r>
              <a:rPr lang="en-IN" dirty="0"/>
              <a:t> material (20–30</a:t>
            </a:r>
            <a:r>
              <a:rPr lang="en-IN" dirty="0" smtClean="0"/>
              <a:t>%)</a:t>
            </a:r>
            <a:r>
              <a:rPr lang="en-IN" dirty="0"/>
              <a:t> </a:t>
            </a:r>
            <a:endParaRPr lang="en-IN" dirty="0" smtClean="0"/>
          </a:p>
          <a:p>
            <a:r>
              <a:rPr lang="en-IN" dirty="0" smtClean="0"/>
              <a:t>IOT:</a:t>
            </a:r>
          </a:p>
          <a:p>
            <a:r>
              <a:rPr lang="en-IN" dirty="0" smtClean="0"/>
              <a:t>Weigh </a:t>
            </a:r>
            <a:r>
              <a:rPr lang="en-IN" dirty="0"/>
              <a:t>feeders, belt scales, online elemental </a:t>
            </a:r>
            <a:r>
              <a:rPr lang="en-IN" dirty="0" err="1"/>
              <a:t>analyzers</a:t>
            </a:r>
            <a:r>
              <a:rPr lang="en-IN" dirty="0"/>
              <a:t> (XRF/XRD) feed live composition data</a:t>
            </a:r>
            <a:r>
              <a:rPr lang="en-IN" dirty="0" smtClean="0"/>
              <a:t>.</a:t>
            </a:r>
          </a:p>
          <a:p>
            <a:r>
              <a:rPr lang="en-IN" dirty="0" smtClean="0"/>
              <a:t>AI:</a:t>
            </a:r>
            <a:endParaRPr lang="en-IN" dirty="0"/>
          </a:p>
          <a:p>
            <a:r>
              <a:rPr lang="en-IN" dirty="0" smtClean="0"/>
              <a:t>AI Automatically </a:t>
            </a:r>
            <a:r>
              <a:rPr lang="en-IN" dirty="0"/>
              <a:t>adjusts </a:t>
            </a:r>
            <a:r>
              <a:rPr lang="en-IN" dirty="0" err="1"/>
              <a:t>the:Pozzolana</a:t>
            </a:r>
            <a:r>
              <a:rPr lang="en-IN" dirty="0"/>
              <a:t> </a:t>
            </a:r>
            <a:r>
              <a:rPr lang="en-IN" dirty="0" err="1"/>
              <a:t>additionGlass</a:t>
            </a:r>
            <a:r>
              <a:rPr lang="en-IN" dirty="0"/>
              <a:t> waste + slag %Iron ore + aluminium can </a:t>
            </a:r>
            <a:r>
              <a:rPr lang="en-IN" dirty="0" err="1"/>
              <a:t>wasteNano</a:t>
            </a:r>
            <a:r>
              <a:rPr lang="en-IN" dirty="0"/>
              <a:t>-titanium 0.1%AI algorithms maintain stable LSF, C3S, C2S ratios, ensuring strong OPC base for </a:t>
            </a:r>
            <a:r>
              <a:rPr lang="en-IN" dirty="0" err="1"/>
              <a:t>PPC.Result</a:t>
            </a:r>
            <a:r>
              <a:rPr lang="en-IN" dirty="0"/>
              <a:t>: Higher strength PPC with uniform fineness and controlled reactivity.</a:t>
            </a:r>
          </a:p>
        </p:txBody>
      </p:sp>
    </p:spTree>
    <p:extLst>
      <p:ext uri="{BB962C8B-B14F-4D97-AF65-F5344CB8AC3E}">
        <p14:creationId xmlns:p14="http://schemas.microsoft.com/office/powerpoint/2010/main" val="339908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CLINKER KILN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err="1" smtClean="0"/>
              <a:t>IoT</a:t>
            </a:r>
            <a:endParaRPr lang="en-IN" dirty="0" smtClean="0"/>
          </a:p>
          <a:p>
            <a:r>
              <a:rPr lang="en-IN" dirty="0" smtClean="0"/>
              <a:t> </a:t>
            </a:r>
            <a:r>
              <a:rPr lang="en-IN" dirty="0" err="1"/>
              <a:t>SensorsTemperature</a:t>
            </a:r>
            <a:r>
              <a:rPr lang="en-IN" dirty="0"/>
              <a:t> sensors (preheater → kiln → cooler)Fuel flow meters (biomass + coal mix)Vibration &amp; torque sensors on rotary </a:t>
            </a:r>
            <a:r>
              <a:rPr lang="en-IN" dirty="0" err="1"/>
              <a:t>kilnOxygen</a:t>
            </a:r>
            <a:r>
              <a:rPr lang="en-IN" dirty="0"/>
              <a:t>, </a:t>
            </a:r>
            <a:r>
              <a:rPr lang="en-IN" dirty="0" err="1"/>
              <a:t>NOx</a:t>
            </a:r>
            <a:r>
              <a:rPr lang="en-IN" dirty="0"/>
              <a:t>, CO </a:t>
            </a:r>
            <a:r>
              <a:rPr lang="en-IN" dirty="0" err="1"/>
              <a:t>analyzersKiln</a:t>
            </a:r>
            <a:r>
              <a:rPr lang="en-IN" dirty="0"/>
              <a:t> camera for </a:t>
            </a:r>
            <a:r>
              <a:rPr lang="en-IN" dirty="0" smtClean="0"/>
              <a:t>flame</a:t>
            </a:r>
          </a:p>
          <a:p>
            <a:pPr marL="0" indent="0">
              <a:buNone/>
            </a:pPr>
            <a:r>
              <a:rPr lang="en-IN" dirty="0" smtClean="0"/>
              <a:t>AI</a:t>
            </a:r>
          </a:p>
          <a:p>
            <a:r>
              <a:rPr lang="en-IN" dirty="0" smtClean="0"/>
              <a:t>AI </a:t>
            </a:r>
            <a:r>
              <a:rPr lang="en-IN" dirty="0"/>
              <a:t>kiln controller </a:t>
            </a:r>
            <a:r>
              <a:rPr lang="en-IN" dirty="0" err="1"/>
              <a:t>keeps:Kiln</a:t>
            </a:r>
            <a:r>
              <a:rPr lang="en-IN" dirty="0"/>
              <a:t> speed </a:t>
            </a:r>
            <a:r>
              <a:rPr lang="en-IN" dirty="0" err="1"/>
              <a:t>optimalFlame</a:t>
            </a:r>
            <a:r>
              <a:rPr lang="en-IN" dirty="0"/>
              <a:t> profile </a:t>
            </a:r>
            <a:r>
              <a:rPr lang="en-IN" dirty="0" err="1"/>
              <a:t>consistentAir</a:t>
            </a:r>
            <a:r>
              <a:rPr lang="en-IN" dirty="0"/>
              <a:t>-fuel ratio </a:t>
            </a:r>
            <a:r>
              <a:rPr lang="en-IN" dirty="0" err="1"/>
              <a:t>perfectClinker</a:t>
            </a:r>
            <a:r>
              <a:rPr lang="en-IN" dirty="0"/>
              <a:t> free-lime </a:t>
            </a:r>
            <a:r>
              <a:rPr lang="en-IN" dirty="0" err="1"/>
              <a:t>optimalAI</a:t>
            </a:r>
            <a:r>
              <a:rPr lang="en-IN" dirty="0"/>
              <a:t> </a:t>
            </a:r>
            <a:r>
              <a:rPr lang="en-IN" dirty="0" err="1"/>
              <a:t>predicts:Ring</a:t>
            </a:r>
            <a:r>
              <a:rPr lang="en-IN" dirty="0"/>
              <a:t> </a:t>
            </a:r>
            <a:r>
              <a:rPr lang="en-IN" dirty="0" err="1"/>
              <a:t>formationCoating</a:t>
            </a:r>
            <a:r>
              <a:rPr lang="en-IN" dirty="0"/>
              <a:t> </a:t>
            </a:r>
            <a:r>
              <a:rPr lang="en-IN" dirty="0" err="1"/>
              <a:t>thicknessRefractory</a:t>
            </a:r>
            <a:r>
              <a:rPr lang="en-IN" dirty="0"/>
              <a:t> </a:t>
            </a:r>
            <a:r>
              <a:rPr lang="en-IN" dirty="0" err="1"/>
              <a:t>wearHotspot</a:t>
            </a:r>
            <a:r>
              <a:rPr lang="en-IN" dirty="0"/>
              <a:t> </a:t>
            </a:r>
            <a:r>
              <a:rPr lang="en-IN" dirty="0" smtClean="0"/>
              <a:t>formation</a:t>
            </a:r>
            <a:br>
              <a:rPr lang="en-IN" dirty="0" smtClean="0"/>
            </a:br>
            <a:endParaRPr lang="en-IN" dirty="0" smtClean="0"/>
          </a:p>
          <a:p>
            <a:r>
              <a:rPr lang="en-IN" dirty="0" smtClean="0"/>
              <a:t>This </a:t>
            </a:r>
            <a:r>
              <a:rPr lang="en-IN" dirty="0"/>
              <a:t>reduces shutdowns by 20–30% and fuel consumption by 5–10%.</a:t>
            </a:r>
          </a:p>
        </p:txBody>
      </p:sp>
    </p:spTree>
    <p:extLst>
      <p:ext uri="{BB962C8B-B14F-4D97-AF65-F5344CB8AC3E}">
        <p14:creationId xmlns:p14="http://schemas.microsoft.com/office/powerpoint/2010/main" val="2257223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GRNDING UNIT OPTIMIZATION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IoT</a:t>
            </a:r>
            <a:r>
              <a:rPr lang="en-IN" dirty="0"/>
              <a:t> </a:t>
            </a:r>
            <a:r>
              <a:rPr lang="en-IN" dirty="0" err="1"/>
              <a:t>sensorsMill</a:t>
            </a:r>
            <a:r>
              <a:rPr lang="en-IN" dirty="0"/>
              <a:t> </a:t>
            </a:r>
            <a:r>
              <a:rPr lang="en-IN" dirty="0" err="1"/>
              <a:t>vibrationMotor</a:t>
            </a:r>
            <a:r>
              <a:rPr lang="en-IN" dirty="0"/>
              <a:t> </a:t>
            </a:r>
            <a:r>
              <a:rPr lang="en-IN" dirty="0" err="1"/>
              <a:t>powerFan</a:t>
            </a:r>
            <a:r>
              <a:rPr lang="en-IN" dirty="0"/>
              <a:t> </a:t>
            </a:r>
            <a:r>
              <a:rPr lang="en-IN" dirty="0" err="1"/>
              <a:t>airflowSeparator</a:t>
            </a:r>
            <a:r>
              <a:rPr lang="en-IN" dirty="0"/>
              <a:t> </a:t>
            </a:r>
            <a:r>
              <a:rPr lang="en-IN" dirty="0" smtClean="0"/>
              <a:t>speed</a:t>
            </a:r>
          </a:p>
          <a:p>
            <a:r>
              <a:rPr lang="en-IN" dirty="0" smtClean="0"/>
              <a:t>AI</a:t>
            </a:r>
          </a:p>
          <a:p>
            <a:r>
              <a:rPr lang="en-IN" dirty="0" smtClean="0"/>
              <a:t>Autonomous </a:t>
            </a:r>
            <a:r>
              <a:rPr lang="en-IN" dirty="0"/>
              <a:t>mill control </a:t>
            </a:r>
            <a:r>
              <a:rPr lang="en-IN" dirty="0" err="1"/>
              <a:t>adjusts:Gypsum</a:t>
            </a:r>
            <a:r>
              <a:rPr lang="en-IN" dirty="0"/>
              <a:t> </a:t>
            </a:r>
            <a:r>
              <a:rPr lang="en-IN" dirty="0" err="1"/>
              <a:t>blendingSlag</a:t>
            </a:r>
            <a:r>
              <a:rPr lang="en-IN" dirty="0"/>
              <a:t>/glass waste %Fly ash </a:t>
            </a:r>
            <a:r>
              <a:rPr lang="en-IN" dirty="0" err="1"/>
              <a:t>feedSeparator</a:t>
            </a:r>
            <a:r>
              <a:rPr lang="en-IN" dirty="0"/>
              <a:t> </a:t>
            </a:r>
            <a:r>
              <a:rPr lang="en-IN" dirty="0" err="1"/>
              <a:t>RPMMill</a:t>
            </a:r>
            <a:r>
              <a:rPr lang="en-IN" dirty="0"/>
              <a:t> feed </a:t>
            </a:r>
            <a:r>
              <a:rPr lang="en-IN" dirty="0" smtClean="0"/>
              <a:t>rate</a:t>
            </a:r>
          </a:p>
          <a:p>
            <a:r>
              <a:rPr lang="en-IN" dirty="0" smtClean="0"/>
              <a:t>AI </a:t>
            </a:r>
            <a:r>
              <a:rPr lang="en-IN" dirty="0"/>
              <a:t>ensures</a:t>
            </a:r>
            <a:r>
              <a:rPr lang="en-IN" dirty="0" smtClean="0"/>
              <a:t>:</a:t>
            </a:r>
          </a:p>
          <a:p>
            <a:r>
              <a:rPr lang="en-IN" dirty="0" smtClean="0"/>
              <a:t>Blaine </a:t>
            </a:r>
            <a:r>
              <a:rPr lang="en-IN" dirty="0"/>
              <a:t>fineness </a:t>
            </a:r>
            <a:r>
              <a:rPr lang="en-IN" dirty="0" smtClean="0"/>
              <a:t>optimized</a:t>
            </a:r>
          </a:p>
          <a:p>
            <a:r>
              <a:rPr lang="en-IN" dirty="0" smtClean="0"/>
              <a:t>No over-grinding</a:t>
            </a:r>
          </a:p>
          <a:p>
            <a:r>
              <a:rPr lang="en-IN" dirty="0" smtClean="0"/>
              <a:t>Low </a:t>
            </a:r>
            <a:r>
              <a:rPr lang="en-IN" dirty="0"/>
              <a:t>kWh </a:t>
            </a:r>
            <a:r>
              <a:rPr lang="en-IN" dirty="0" err="1"/>
              <a:t>consumptionEnergy</a:t>
            </a:r>
            <a:r>
              <a:rPr lang="en-IN" dirty="0"/>
              <a:t> cost drops 8–12%.</a:t>
            </a:r>
          </a:p>
        </p:txBody>
      </p:sp>
    </p:spTree>
    <p:extLst>
      <p:ext uri="{BB962C8B-B14F-4D97-AF65-F5344CB8AC3E}">
        <p14:creationId xmlns:p14="http://schemas.microsoft.com/office/powerpoint/2010/main" val="5905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QUALITY CONTROL USING ML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12776"/>
            <a:ext cx="5328592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87624" y="4581128"/>
            <a:ext cx="6336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ML models predict</a:t>
            </a:r>
            <a:r>
              <a:rPr lang="en-US" dirty="0" smtClean="0"/>
              <a:t>:</a:t>
            </a:r>
          </a:p>
          <a:p>
            <a:r>
              <a:rPr lang="en-US" dirty="0" smtClean="0"/>
              <a:t>28-day </a:t>
            </a:r>
            <a:r>
              <a:rPr lang="en-US" dirty="0"/>
              <a:t>strength from 1-day </a:t>
            </a:r>
            <a:r>
              <a:rPr lang="en-US" dirty="0" smtClean="0"/>
              <a:t>strength</a:t>
            </a:r>
          </a:p>
          <a:p>
            <a:r>
              <a:rPr lang="en-US" dirty="0" smtClean="0"/>
              <a:t>Setting </a:t>
            </a:r>
            <a:r>
              <a:rPr lang="en-US" dirty="0"/>
              <a:t>time based on fineness + </a:t>
            </a:r>
            <a:r>
              <a:rPr lang="en-US" dirty="0" smtClean="0"/>
              <a:t>additives</a:t>
            </a:r>
          </a:p>
          <a:p>
            <a:r>
              <a:rPr lang="en-US" dirty="0" smtClean="0"/>
              <a:t>Soundness </a:t>
            </a:r>
            <a:r>
              <a:rPr lang="en-US" dirty="0"/>
              <a:t>issues before they </a:t>
            </a:r>
            <a:r>
              <a:rPr lang="en-US" dirty="0" err="1"/>
              <a:t>appearAI</a:t>
            </a:r>
            <a:r>
              <a:rPr lang="en-US" dirty="0"/>
              <a:t> gives early warnings so product failures never reach the market.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31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LOGISTICS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IoT</a:t>
            </a:r>
            <a:endParaRPr lang="en-IN" dirty="0" smtClean="0"/>
          </a:p>
          <a:p>
            <a:r>
              <a:rPr lang="en-IN" dirty="0" smtClean="0"/>
              <a:t>Smart </a:t>
            </a:r>
            <a:r>
              <a:rPr lang="en-IN" dirty="0"/>
              <a:t>weighing </a:t>
            </a:r>
            <a:r>
              <a:rPr lang="en-IN" dirty="0" smtClean="0"/>
              <a:t>systems</a:t>
            </a:r>
          </a:p>
          <a:p>
            <a:r>
              <a:rPr lang="en-IN" dirty="0" smtClean="0"/>
              <a:t>QR</a:t>
            </a:r>
            <a:r>
              <a:rPr lang="en-IN" dirty="0"/>
              <a:t>/ RFID coded </a:t>
            </a:r>
            <a:r>
              <a:rPr lang="en-IN" dirty="0" smtClean="0"/>
              <a:t>bags Truck  </a:t>
            </a:r>
            <a:r>
              <a:rPr lang="en-IN" dirty="0" smtClean="0"/>
              <a:t>tracking</a:t>
            </a:r>
          </a:p>
          <a:p>
            <a:r>
              <a:rPr lang="en-IN" dirty="0" smtClean="0"/>
              <a:t>AI</a:t>
            </a:r>
          </a:p>
          <a:p>
            <a:r>
              <a:rPr lang="en-IN" dirty="0" smtClean="0"/>
              <a:t>Predicts </a:t>
            </a:r>
            <a:r>
              <a:rPr lang="en-IN" dirty="0"/>
              <a:t>cement demand per </a:t>
            </a:r>
            <a:r>
              <a:rPr lang="en-IN" dirty="0" smtClean="0"/>
              <a:t>district Optimizes </a:t>
            </a:r>
            <a:r>
              <a:rPr lang="en-IN" dirty="0"/>
              <a:t>truck </a:t>
            </a:r>
            <a:r>
              <a:rPr lang="en-IN" dirty="0" smtClean="0"/>
              <a:t>routing</a:t>
            </a:r>
          </a:p>
          <a:p>
            <a:r>
              <a:rPr lang="en-IN" dirty="0" smtClean="0"/>
              <a:t>Reduces </a:t>
            </a:r>
            <a:r>
              <a:rPr lang="en-IN" dirty="0"/>
              <a:t>freight </a:t>
            </a:r>
            <a:r>
              <a:rPr lang="en-IN" dirty="0" smtClean="0"/>
              <a:t>cost Detects </a:t>
            </a:r>
            <a:r>
              <a:rPr lang="en-IN" dirty="0"/>
              <a:t>tampering or overloading</a:t>
            </a:r>
          </a:p>
        </p:txBody>
      </p:sp>
    </p:spTree>
    <p:extLst>
      <p:ext uri="{BB962C8B-B14F-4D97-AF65-F5344CB8AC3E}">
        <p14:creationId xmlns:p14="http://schemas.microsoft.com/office/powerpoint/2010/main" val="3685959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PREDECTIVE MAINTANENCE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Predictive Maintenance (</a:t>
            </a:r>
            <a:r>
              <a:rPr lang="en-IN" dirty="0" smtClean="0"/>
              <a:t>AI-driven): </a:t>
            </a:r>
          </a:p>
          <a:p>
            <a:r>
              <a:rPr lang="en-IN" dirty="0" smtClean="0"/>
              <a:t>Kiln </a:t>
            </a:r>
            <a:r>
              <a:rPr lang="en-IN" dirty="0" smtClean="0"/>
              <a:t>drives Crushers VRMs </a:t>
            </a:r>
            <a:endParaRPr lang="en-IN" dirty="0" smtClean="0"/>
          </a:p>
          <a:p>
            <a:r>
              <a:rPr lang="en-IN" dirty="0" smtClean="0"/>
              <a:t>AI </a:t>
            </a:r>
            <a:r>
              <a:rPr lang="en-IN" dirty="0" smtClean="0"/>
              <a:t>analysis</a:t>
            </a:r>
            <a:r>
              <a:rPr lang="en-IN" dirty="0" smtClean="0"/>
              <a:t> </a:t>
            </a:r>
            <a:r>
              <a:rPr lang="en-IN" dirty="0" smtClean="0"/>
              <a:t>:</a:t>
            </a:r>
            <a:endParaRPr lang="en-IN" dirty="0" smtClean="0"/>
          </a:p>
          <a:p>
            <a:r>
              <a:rPr lang="en-IN" dirty="0" smtClean="0"/>
              <a:t>Vibration patterns</a:t>
            </a:r>
          </a:p>
          <a:p>
            <a:r>
              <a:rPr lang="en-IN" dirty="0" smtClean="0"/>
              <a:t>Thermal signatures</a:t>
            </a:r>
          </a:p>
          <a:p>
            <a:r>
              <a:rPr lang="en-IN" dirty="0" smtClean="0"/>
              <a:t>Current </a:t>
            </a:r>
            <a:r>
              <a:rPr lang="en-IN" dirty="0"/>
              <a:t>load </a:t>
            </a:r>
            <a:r>
              <a:rPr lang="en-IN" dirty="0" smtClean="0"/>
              <a:t> </a:t>
            </a:r>
            <a:endParaRPr lang="en-IN" dirty="0" smtClean="0"/>
          </a:p>
          <a:p>
            <a:r>
              <a:rPr lang="en-IN" dirty="0" smtClean="0"/>
              <a:t>predicts </a:t>
            </a:r>
            <a:r>
              <a:rPr lang="en-IN" dirty="0"/>
              <a:t>failures 15–20 days </a:t>
            </a:r>
            <a:r>
              <a:rPr lang="en-IN" dirty="0" smtClean="0"/>
              <a:t>before happening.</a:t>
            </a:r>
          </a:p>
          <a:p>
            <a:r>
              <a:rPr lang="en-IN" dirty="0" smtClean="0"/>
              <a:t>Saves 20 to 30 rupees per tonne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439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Power sources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Powering the Vertical Clinker Kiln &amp; Vertical Ball Mill using;</a:t>
            </a:r>
          </a:p>
          <a:p>
            <a:r>
              <a:rPr lang="en-US" dirty="0" smtClean="0"/>
              <a:t>Solar Power (40%)</a:t>
            </a:r>
          </a:p>
          <a:p>
            <a:r>
              <a:rPr lang="en-US" dirty="0" smtClean="0"/>
              <a:t>Wind Power (30%)</a:t>
            </a:r>
          </a:p>
          <a:p>
            <a:r>
              <a:rPr lang="en-US" dirty="0" smtClean="0"/>
              <a:t>Waste Heat Recovery (WHR) (30%)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278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6673"/>
            <a:ext cx="7772400" cy="1440159"/>
          </a:xfrm>
        </p:spPr>
        <p:txBody>
          <a:bodyPr/>
          <a:lstStyle/>
          <a:p>
            <a:r>
              <a:rPr lang="en-IN" dirty="0" smtClean="0"/>
              <a:t>SUSTAINABLE PACKING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3608" y="2060848"/>
            <a:ext cx="6400800" cy="1752600"/>
          </a:xfrm>
        </p:spPr>
        <p:txBody>
          <a:bodyPr>
            <a:normAutofit/>
          </a:bodyPr>
          <a:lstStyle/>
          <a:p>
            <a:r>
              <a:rPr lang="en-IN" dirty="0" smtClean="0"/>
              <a:t>Packing with </a:t>
            </a:r>
            <a:r>
              <a:rPr lang="en-IN" dirty="0" err="1" smtClean="0"/>
              <a:t>recylcable</a:t>
            </a:r>
            <a:r>
              <a:rPr lang="en-IN" dirty="0" smtClean="0"/>
              <a:t> paper bags</a:t>
            </a:r>
          </a:p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941880"/>
            <a:ext cx="4680520" cy="329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3050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Scope of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Reduces 30 to 40% of co2 and create circular economy</a:t>
            </a:r>
          </a:p>
          <a:p>
            <a:r>
              <a:rPr lang="en-IN" dirty="0" smtClean="0"/>
              <a:t>Improves </a:t>
            </a:r>
            <a:r>
              <a:rPr lang="en-IN" dirty="0" smtClean="0"/>
              <a:t>strength ,durability  and shelf </a:t>
            </a:r>
            <a:r>
              <a:rPr lang="en-IN" dirty="0" smtClean="0"/>
              <a:t>life of product</a:t>
            </a:r>
          </a:p>
          <a:p>
            <a:r>
              <a:rPr lang="en-IN" dirty="0" smtClean="0"/>
              <a:t>Reduces carrying load due to sustainable packing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588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project redefines cement manufacturing by integrating sustainability, innovation, and profitability.</a:t>
            </a:r>
          </a:p>
          <a:p>
            <a:r>
              <a:rPr lang="en-US" dirty="0"/>
              <a:t> </a:t>
            </a:r>
            <a:r>
              <a:rPr lang="en-US" dirty="0" smtClean="0"/>
              <a:t>Future scope;</a:t>
            </a:r>
          </a:p>
          <a:p>
            <a:r>
              <a:rPr lang="en-US" dirty="0" smtClean="0"/>
              <a:t>Carbon capture technology</a:t>
            </a:r>
          </a:p>
          <a:p>
            <a:r>
              <a:rPr lang="en-US" dirty="0" smtClean="0"/>
              <a:t>Ai and automation for </a:t>
            </a:r>
            <a:r>
              <a:rPr lang="en-US" smtClean="0"/>
              <a:t>smart manufacturing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933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572</Words>
  <Application>Microsoft Office PowerPoint</Application>
  <PresentationFormat>On-screen Show (4:3)</PresentationFormat>
  <Paragraphs>84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PPC cement for sustainable future</vt:lpstr>
      <vt:lpstr>Introduction</vt:lpstr>
      <vt:lpstr>Raw materials</vt:lpstr>
      <vt:lpstr>Fuels in kiln</vt:lpstr>
      <vt:lpstr>ROLE OF AI,IOT IN INDUSTRY MANAGEMENT</vt:lpstr>
      <vt:lpstr>Raw Meal &amp; Additive Proportion Control</vt:lpstr>
      <vt:lpstr>CLINKER KILN</vt:lpstr>
      <vt:lpstr>GRNDING UNIT OPTIMIZATION</vt:lpstr>
      <vt:lpstr>QUALITY CONTROL USING ML</vt:lpstr>
      <vt:lpstr>LOGISTICS</vt:lpstr>
      <vt:lpstr>PREDECTIVE MAINTANENCE</vt:lpstr>
      <vt:lpstr>Power sources </vt:lpstr>
      <vt:lpstr>SUSTAINABLE PACKING</vt:lpstr>
      <vt:lpstr>Scope of project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PPC cement for sustainable future</dc:title>
  <dc:creator>ARVINDH</dc:creator>
  <cp:lastModifiedBy>ARVINDH</cp:lastModifiedBy>
  <cp:revision>12</cp:revision>
  <dcterms:created xsi:type="dcterms:W3CDTF">2025-03-20T16:42:40Z</dcterms:created>
  <dcterms:modified xsi:type="dcterms:W3CDTF">2025-12-15T06:15:27Z</dcterms:modified>
</cp:coreProperties>
</file>